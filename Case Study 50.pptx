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07" r:id="rId1"/>
  </p:sldMasterIdLst>
  <p:notesMasterIdLst>
    <p:notesMasterId r:id="rId14"/>
  </p:notesMasterIdLst>
  <p:sldIdLst>
    <p:sldId id="257" r:id="rId2"/>
    <p:sldId id="262" r:id="rId3"/>
    <p:sldId id="260" r:id="rId4"/>
    <p:sldId id="263" r:id="rId5"/>
    <p:sldId id="261" r:id="rId6"/>
    <p:sldId id="270" r:id="rId7"/>
    <p:sldId id="265" r:id="rId8"/>
    <p:sldId id="269" r:id="rId9"/>
    <p:sldId id="271" r:id="rId10"/>
    <p:sldId id="272" r:id="rId11"/>
    <p:sldId id="273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65836"/>
    <a:srgbClr val="BA33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9A1A12-D35B-429F-8567-F06ADBA6F812}" v="2" dt="2026-01-18T16:28:28.695"/>
    <p1510:client id="{7F1A65E3-52D3-4256-8872-73F67989C71C}" v="67" dt="2026-01-18T16:13:31.9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0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Y, JHUMA" userId="a150b4a1-fdec-404c-9f8f-249f56566c54" providerId="ADAL" clId="{2612D0B8-2A57-4546-8CFE-668FCD1635FF}"/>
    <pc:docChg chg="modSld">
      <pc:chgData name="ROY, JHUMA" userId="a150b4a1-fdec-404c-9f8f-249f56566c54" providerId="ADAL" clId="{2612D0B8-2A57-4546-8CFE-668FCD1635FF}" dt="2026-01-19T04:56:17.404" v="59" actId="14100"/>
      <pc:docMkLst>
        <pc:docMk/>
      </pc:docMkLst>
      <pc:sldChg chg="modSp mod">
        <pc:chgData name="ROY, JHUMA" userId="a150b4a1-fdec-404c-9f8f-249f56566c54" providerId="ADAL" clId="{2612D0B8-2A57-4546-8CFE-668FCD1635FF}" dt="2026-01-18T16:27:00.660" v="9" actId="404"/>
        <pc:sldMkLst>
          <pc:docMk/>
          <pc:sldMk cId="2630172703" sldId="260"/>
        </pc:sldMkLst>
        <pc:spChg chg="mod">
          <ac:chgData name="ROY, JHUMA" userId="a150b4a1-fdec-404c-9f8f-249f56566c54" providerId="ADAL" clId="{2612D0B8-2A57-4546-8CFE-668FCD1635FF}" dt="2026-01-18T16:27:00.660" v="9" actId="404"/>
          <ac:spMkLst>
            <pc:docMk/>
            <pc:sldMk cId="2630172703" sldId="260"/>
            <ac:spMk id="3" creationId="{B25BC77E-F0F4-08B3-867E-D6C4C4413662}"/>
          </ac:spMkLst>
        </pc:spChg>
      </pc:sldChg>
      <pc:sldChg chg="modSp mod">
        <pc:chgData name="ROY, JHUMA" userId="a150b4a1-fdec-404c-9f8f-249f56566c54" providerId="ADAL" clId="{2612D0B8-2A57-4546-8CFE-668FCD1635FF}" dt="2026-01-18T16:33:19.070" v="14" actId="20577"/>
        <pc:sldMkLst>
          <pc:docMk/>
          <pc:sldMk cId="364239430" sldId="262"/>
        </pc:sldMkLst>
        <pc:spChg chg="mod">
          <ac:chgData name="ROY, JHUMA" userId="a150b4a1-fdec-404c-9f8f-249f56566c54" providerId="ADAL" clId="{2612D0B8-2A57-4546-8CFE-668FCD1635FF}" dt="2026-01-18T16:33:19.070" v="14" actId="20577"/>
          <ac:spMkLst>
            <pc:docMk/>
            <pc:sldMk cId="364239430" sldId="262"/>
            <ac:spMk id="8" creationId="{FE5A169F-2614-21F9-C394-E7C49C2FE270}"/>
          </ac:spMkLst>
        </pc:spChg>
      </pc:sldChg>
      <pc:sldChg chg="addSp modSp mod">
        <pc:chgData name="ROY, JHUMA" userId="a150b4a1-fdec-404c-9f8f-249f56566c54" providerId="ADAL" clId="{2612D0B8-2A57-4546-8CFE-668FCD1635FF}" dt="2026-01-19T04:56:17.404" v="59" actId="14100"/>
        <pc:sldMkLst>
          <pc:docMk/>
          <pc:sldMk cId="1416842801" sldId="263"/>
        </pc:sldMkLst>
        <pc:spChg chg="mod">
          <ac:chgData name="ROY, JHUMA" userId="a150b4a1-fdec-404c-9f8f-249f56566c54" providerId="ADAL" clId="{2612D0B8-2A57-4546-8CFE-668FCD1635FF}" dt="2026-01-19T04:56:06.259" v="56" actId="1076"/>
          <ac:spMkLst>
            <pc:docMk/>
            <pc:sldMk cId="1416842801" sldId="263"/>
            <ac:spMk id="5" creationId="{196231F2-7D6C-A4BB-8543-71C409868061}"/>
          </ac:spMkLst>
        </pc:spChg>
        <pc:spChg chg="mod">
          <ac:chgData name="ROY, JHUMA" userId="a150b4a1-fdec-404c-9f8f-249f56566c54" providerId="ADAL" clId="{2612D0B8-2A57-4546-8CFE-668FCD1635FF}" dt="2026-01-19T04:09:11.771" v="27" actId="14100"/>
          <ac:spMkLst>
            <pc:docMk/>
            <pc:sldMk cId="1416842801" sldId="263"/>
            <ac:spMk id="10" creationId="{752E5A92-A2DD-7CF7-303A-09276269EF0E}"/>
          </ac:spMkLst>
        </pc:spChg>
        <pc:picChg chg="add mod">
          <ac:chgData name="ROY, JHUMA" userId="a150b4a1-fdec-404c-9f8f-249f56566c54" providerId="ADAL" clId="{2612D0B8-2A57-4546-8CFE-668FCD1635FF}" dt="2026-01-19T04:55:35.668" v="49" actId="1076"/>
          <ac:picMkLst>
            <pc:docMk/>
            <pc:sldMk cId="1416842801" sldId="263"/>
            <ac:picMk id="4" creationId="{775C2B0D-37A7-2E50-3FFB-ECBFB214DE72}"/>
          </ac:picMkLst>
        </pc:picChg>
        <pc:picChg chg="add mod">
          <ac:chgData name="ROY, JHUMA" userId="a150b4a1-fdec-404c-9f8f-249f56566c54" providerId="ADAL" clId="{2612D0B8-2A57-4546-8CFE-668FCD1635FF}" dt="2026-01-19T04:56:13.462" v="58" actId="14100"/>
          <ac:picMkLst>
            <pc:docMk/>
            <pc:sldMk cId="1416842801" sldId="263"/>
            <ac:picMk id="7" creationId="{1C2F982F-00D2-CA3C-F1B0-275F64540B08}"/>
          </ac:picMkLst>
        </pc:picChg>
        <pc:picChg chg="add mod">
          <ac:chgData name="ROY, JHUMA" userId="a150b4a1-fdec-404c-9f8f-249f56566c54" providerId="ADAL" clId="{2612D0B8-2A57-4546-8CFE-668FCD1635FF}" dt="2026-01-19T04:56:17.404" v="59" actId="14100"/>
          <ac:picMkLst>
            <pc:docMk/>
            <pc:sldMk cId="1416842801" sldId="263"/>
            <ac:picMk id="11" creationId="{7B64C4B9-B10E-8FAA-6FEC-D39C5ECF0AC2}"/>
          </ac:picMkLst>
        </pc:picChg>
        <pc:picChg chg="add mod">
          <ac:chgData name="ROY, JHUMA" userId="a150b4a1-fdec-404c-9f8f-249f56566c54" providerId="ADAL" clId="{2612D0B8-2A57-4546-8CFE-668FCD1635FF}" dt="2026-01-19T04:55:33.477" v="48" actId="14100"/>
          <ac:picMkLst>
            <pc:docMk/>
            <pc:sldMk cId="1416842801" sldId="263"/>
            <ac:picMk id="13" creationId="{C58BB089-1650-76FD-BE0B-8735D04D4DA9}"/>
          </ac:picMkLst>
        </pc:picChg>
      </pc:sldChg>
      <pc:sldChg chg="modSp mod">
        <pc:chgData name="ROY, JHUMA" userId="a150b4a1-fdec-404c-9f8f-249f56566c54" providerId="ADAL" clId="{2612D0B8-2A57-4546-8CFE-668FCD1635FF}" dt="2026-01-19T02:24:45.169" v="22" actId="20577"/>
        <pc:sldMkLst>
          <pc:docMk/>
          <pc:sldMk cId="3408935693" sldId="272"/>
        </pc:sldMkLst>
        <pc:spChg chg="mod">
          <ac:chgData name="ROY, JHUMA" userId="a150b4a1-fdec-404c-9f8f-249f56566c54" providerId="ADAL" clId="{2612D0B8-2A57-4546-8CFE-668FCD1635FF}" dt="2026-01-19T02:24:45.169" v="22" actId="20577"/>
          <ac:spMkLst>
            <pc:docMk/>
            <pc:sldMk cId="3408935693" sldId="272"/>
            <ac:spMk id="3" creationId="{F4E1B92E-4EED-1D76-3B2E-08C7D2D80E4C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5T18:50:15.502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41142.61719"/>
      <inkml:brushProperty name="anchorY" value="-8262.3291"/>
      <inkml:brushProperty name="scaleFactor" value="0.5"/>
    </inkml:brush>
  </inkml:definitions>
  <inkml:trace contextRef="#ctx0" brushRef="#br0">0 0 24575,'0'0'0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5T18:50:16.425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41989.28125"/>
      <inkml:brushProperty name="anchorY" value="-9108.99609"/>
      <inkml:brushProperty name="scaleFactor" value="0.5"/>
    </inkml:brush>
  </inkml:definitions>
  <inkml:trace contextRef="#ctx0" brushRef="#br0">0 0 24575,'0'0'0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5T18:50:30.143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42835.94922"/>
      <inkml:brushProperty name="anchorY" value="-9955.66211"/>
      <inkml:brushProperty name="scaleFactor" value="0.5"/>
    </inkml:brush>
  </inkml:definitions>
  <inkml:trace contextRef="#ctx0" brushRef="#br0">1 1 24575,'0'0'0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4541F9-FA95-49A2-A26B-995EC5E62BC6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ABFADF-D949-428F-A7AA-1E7111A8EF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9128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ABFADF-D949-428F-A7AA-1E7111A8EF0A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965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43769"/>
      </p:ext>
    </p:extLst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7150963"/>
      </p:ext>
    </p:extLst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1/19/2026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9406958"/>
      </p:ext>
    </p:extLst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949070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7885425"/>
      </p:ext>
    </p:extLst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311408"/>
      </p:ext>
    </p:extLst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7470609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3483478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1/19/2026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4999262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4128531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2547786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0330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8" r:id="rId1"/>
    <p:sldLayoutId id="2147483909" r:id="rId2"/>
    <p:sldLayoutId id="2147483910" r:id="rId3"/>
    <p:sldLayoutId id="2147483911" r:id="rId4"/>
    <p:sldLayoutId id="2147483912" r:id="rId5"/>
    <p:sldLayoutId id="2147483913" r:id="rId6"/>
    <p:sldLayoutId id="2147483914" r:id="rId7"/>
    <p:sldLayoutId id="2147483915" r:id="rId8"/>
    <p:sldLayoutId id="2147483916" r:id="rId9"/>
    <p:sldLayoutId id="2147483917" r:id="rId10"/>
    <p:sldLayoutId id="2147483918" r:id="rId11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5.png"/><Relationship Id="rId18" Type="http://schemas.openxmlformats.org/officeDocument/2006/relationships/image" Target="../media/image6.png"/><Relationship Id="rId21" Type="http://schemas.openxmlformats.org/officeDocument/2006/relationships/image" Target="../media/image9.png"/><Relationship Id="rId17" Type="http://schemas.openxmlformats.org/officeDocument/2006/relationships/image" Target="../media/image17.png"/><Relationship Id="rId2" Type="http://schemas.openxmlformats.org/officeDocument/2006/relationships/customXml" Target="../ink/ink1.xml"/><Relationship Id="rId16" Type="http://schemas.openxmlformats.org/officeDocument/2006/relationships/customXml" Target="../ink/ink3.xml"/><Relationship Id="rId20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15" Type="http://schemas.openxmlformats.org/officeDocument/2006/relationships/image" Target="../media/image16.png"/><Relationship Id="rId19" Type="http://schemas.openxmlformats.org/officeDocument/2006/relationships/image" Target="../media/image7.png"/><Relationship Id="rId14" Type="http://schemas.openxmlformats.org/officeDocument/2006/relationships/customXml" Target="../ink/ink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5A19441-1C5F-018C-6C7A-52E7078284FA}"/>
              </a:ext>
            </a:extLst>
          </p:cNvPr>
          <p:cNvSpPr txBox="1"/>
          <p:nvPr/>
        </p:nvSpPr>
        <p:spPr>
          <a:xfrm>
            <a:off x="402771" y="376804"/>
            <a:ext cx="11386457" cy="1200329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3600" dirty="0"/>
              <a:t>Service Order – Partner Bank Details: OOALV + Adobe Form + CDS/AMDP/ADBC </a:t>
            </a:r>
            <a:endParaRPr lang="en-US" sz="3600" b="1" i="1" dirty="0">
              <a:latin typeface="Aptos Narrow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021E47-9FCA-230D-91BB-BD9F56E838AB}"/>
              </a:ext>
            </a:extLst>
          </p:cNvPr>
          <p:cNvSpPr txBox="1"/>
          <p:nvPr/>
        </p:nvSpPr>
        <p:spPr>
          <a:xfrm>
            <a:off x="1206850" y="1445266"/>
            <a:ext cx="96126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>
                <a:solidFill>
                  <a:srgbClr val="FFFF00"/>
                </a:solidFill>
                <a:latin typeface="Bookman Old Style" panose="02050604050505020204" pitchFamily="18" charset="0"/>
              </a:rPr>
              <a:t>  </a:t>
            </a:r>
            <a:endParaRPr lang="en-IN" sz="2400" b="1" i="1" dirty="0">
              <a:solidFill>
                <a:srgbClr val="FFFF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BDC4CB-3F71-BEBC-D510-7E2301598842}"/>
              </a:ext>
            </a:extLst>
          </p:cNvPr>
          <p:cNvSpPr txBox="1"/>
          <p:nvPr/>
        </p:nvSpPr>
        <p:spPr>
          <a:xfrm>
            <a:off x="100204" y="3812042"/>
            <a:ext cx="583781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i="1" u="sng" dirty="0">
                <a:latin typeface="Aptos" panose="020B0004020202020204" pitchFamily="34" charset="0"/>
              </a:rPr>
              <a:t>Presented by :</a:t>
            </a:r>
          </a:p>
          <a:p>
            <a:r>
              <a:rPr lang="en-US" sz="3200" b="1" i="1" u="sng" dirty="0">
                <a:latin typeface="Aptos" panose="020B0004020202020204" pitchFamily="34" charset="0"/>
              </a:rPr>
              <a:t>Jhuma Roy</a:t>
            </a:r>
          </a:p>
          <a:p>
            <a:r>
              <a:rPr lang="en-US" sz="3200" b="1" i="1" u="sng" dirty="0">
                <a:latin typeface="Aptos" panose="020B0004020202020204" pitchFamily="34" charset="0"/>
              </a:rPr>
              <a:t>SAP ABAP Nov 20</a:t>
            </a:r>
            <a:r>
              <a:rPr lang="en-US" sz="3200" b="1" i="1" u="sng" baseline="30000" dirty="0">
                <a:latin typeface="Aptos" panose="020B0004020202020204" pitchFamily="34" charset="0"/>
              </a:rPr>
              <a:t>th</a:t>
            </a:r>
            <a:r>
              <a:rPr lang="en-US" sz="3200" b="1" i="1" u="sng" dirty="0">
                <a:latin typeface="Aptos" panose="020B0004020202020204" pitchFamily="34" charset="0"/>
              </a:rPr>
              <a:t> Batch1 BLR</a:t>
            </a:r>
            <a:endParaRPr lang="en-IN" sz="3200" b="1" i="1" u="sng" dirty="0">
              <a:latin typeface="Aptos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94B78C-C905-2F62-C764-ABC19EF4F5B7}"/>
              </a:ext>
            </a:extLst>
          </p:cNvPr>
          <p:cNvSpPr txBox="1"/>
          <p:nvPr/>
        </p:nvSpPr>
        <p:spPr>
          <a:xfrm>
            <a:off x="158012" y="2522738"/>
            <a:ext cx="74398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i="1" u="sng" dirty="0">
                <a:latin typeface="Book Antiqua" panose="02040602050305030304" pitchFamily="18" charset="0"/>
              </a:rPr>
              <a:t>CAPGEMINI : Case Study Presentation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946029A-3291-872D-1B23-13D85238B480}"/>
              </a:ext>
            </a:extLst>
          </p:cNvPr>
          <p:cNvCxnSpPr>
            <a:cxnSpLocks/>
          </p:cNvCxnSpPr>
          <p:nvPr/>
        </p:nvCxnSpPr>
        <p:spPr>
          <a:xfrm>
            <a:off x="220451" y="3429000"/>
            <a:ext cx="9144000" cy="0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  <a:scene3d>
            <a:camera prst="orthographicFront"/>
            <a:lightRig rig="threePt" dir="t"/>
          </a:scene3d>
          <a:sp3d>
            <a:bevelT prst="convex"/>
          </a:sp3d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pic>
        <p:nvPicPr>
          <p:cNvPr id="2050" name="Picture 2" descr="Capgemini Logo, symbol, meaning, history, PNG, brand">
            <a:extLst>
              <a:ext uri="{FF2B5EF4-FFF2-40B4-BE49-F238E27FC236}">
                <a16:creationId xmlns:a16="http://schemas.microsoft.com/office/drawing/2014/main" id="{015C206E-8558-A87A-8B34-A052E6A944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5644" y="2736262"/>
            <a:ext cx="2886152" cy="1233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9978675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BDB8B-E05C-2268-FF6B-C96ED32B8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C40C900-3EE5-38BF-74F7-0B5A52A926A9}"/>
              </a:ext>
            </a:extLst>
          </p:cNvPr>
          <p:cNvSpPr txBox="1"/>
          <p:nvPr/>
        </p:nvSpPr>
        <p:spPr>
          <a:xfrm>
            <a:off x="750013" y="351694"/>
            <a:ext cx="4431587" cy="83099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4800" dirty="0"/>
              <a:t>Introduction :-</a:t>
            </a:r>
            <a:endParaRPr lang="en-IN" sz="4800" u="sng" dirty="0">
              <a:latin typeface="Footlight MT Light" panose="0204060206030A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5A169F-2614-21F9-C394-E7C49C2FE270}"/>
              </a:ext>
            </a:extLst>
          </p:cNvPr>
          <p:cNvSpPr txBox="1"/>
          <p:nvPr/>
        </p:nvSpPr>
        <p:spPr>
          <a:xfrm>
            <a:off x="558278" y="1435860"/>
            <a:ext cx="11357297" cy="415498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is Service Order?</a:t>
            </a:r>
          </a:p>
          <a:p>
            <a:pPr algn="just"/>
            <a:endParaRPr lang="en-US" sz="20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A service order represents a customer request for maintenance, repair, or service activity.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It contains order header, customer, partner, and scheduling details.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Used in industries like utilities, telecom, manufacturing etc.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2000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Motto of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 this case study.</a:t>
            </a:r>
          </a:p>
          <a:p>
            <a:pPr algn="just"/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To integrate multiple SAP technologies into one working solution.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To learn end‑to‑end development: OOALV → Navigation → PDF → HANA techniques.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To build a complete business scenario with real custom tables.</a:t>
            </a:r>
          </a:p>
          <a:p>
            <a:pPr algn="just"/>
            <a:endParaRPr lang="en-US" sz="2400" i="1" dirty="0">
              <a:solidFill>
                <a:schemeClr val="tx1"/>
              </a:solidFill>
              <a:latin typeface="Aptos Display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B0EB55-2E1C-F8EA-B986-E9A6C590E4F0}"/>
              </a:ext>
            </a:extLst>
          </p:cNvPr>
          <p:cNvSpPr txBox="1"/>
          <p:nvPr/>
        </p:nvSpPr>
        <p:spPr>
          <a:xfrm>
            <a:off x="0" y="6471766"/>
            <a:ext cx="12192000" cy="369332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dirty="0"/>
              <a:t> </a:t>
            </a:r>
            <a:r>
              <a:rPr lang="en-US" dirty="0">
                <a:solidFill>
                  <a:schemeClr val="bg1"/>
                </a:solidFill>
              </a:rPr>
              <a:t>Service Order – Partner Bank Details: OOALV + Adobe Form + CDS/AMDP/ADBC </a:t>
            </a:r>
            <a:r>
              <a:rPr lang="en-IN" dirty="0">
                <a:solidFill>
                  <a:schemeClr val="bg1"/>
                </a:solidFill>
              </a:rPr>
              <a:t>                                    </a:t>
            </a:r>
            <a:r>
              <a:rPr lang="en-US" dirty="0">
                <a:solidFill>
                  <a:schemeClr val="bg1"/>
                </a:solidFill>
              </a:rPr>
              <a:t>~ Jhuma Roy</a:t>
            </a:r>
          </a:p>
        </p:txBody>
      </p:sp>
    </p:spTree>
    <p:extLst>
      <p:ext uri="{BB962C8B-B14F-4D97-AF65-F5344CB8AC3E}">
        <p14:creationId xmlns:p14="http://schemas.microsoft.com/office/powerpoint/2010/main" val="364239430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C6A02-9D12-2F21-89EE-55BF33789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25BC77E-F0F4-08B3-867E-D6C4C4413662}"/>
              </a:ext>
            </a:extLst>
          </p:cNvPr>
          <p:cNvSpPr txBox="1"/>
          <p:nvPr/>
        </p:nvSpPr>
        <p:spPr>
          <a:xfrm>
            <a:off x="661391" y="1438436"/>
            <a:ext cx="11106066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400" dirty="0"/>
              <a:t>This case study replicates a real project scenario of viewing &amp; printing service orders.</a:t>
            </a:r>
          </a:p>
          <a:p>
            <a:pPr algn="just"/>
            <a:endParaRPr lang="en-US" sz="2000" b="1" i="1" dirty="0">
              <a:latin typeface="Aptos Display" panose="020B000402020202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000" b="1" i="1" dirty="0">
                <a:latin typeface="Aptos Display" panose="020B0004020202020204" pitchFamily="34" charset="0"/>
              </a:rPr>
              <a:t> </a:t>
            </a:r>
            <a:r>
              <a:rPr lang="en-IN" sz="2000" dirty="0"/>
              <a:t>Display list of service orders with customer details 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IN" sz="2000" dirty="0"/>
              <a:t> Allow hotspot click to open bank detail view 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IN" sz="2000" dirty="0"/>
              <a:t> Provide “Print PDF” option 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IN" sz="2000" dirty="0"/>
              <a:t> Support range selection (AUFNR, ERDAT) 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IN" sz="2000" dirty="0"/>
              <a:t> Implement data retrieval using: </a:t>
            </a:r>
          </a:p>
          <a:p>
            <a:pPr lvl="0" algn="just"/>
            <a:r>
              <a:rPr lang="en-IN" sz="2000" dirty="0"/>
              <a:t>          CDS</a:t>
            </a:r>
          </a:p>
          <a:p>
            <a:pPr lvl="0" algn="just"/>
            <a:r>
              <a:rPr lang="en-IN" sz="2000" dirty="0"/>
              <a:t>          AMDP</a:t>
            </a:r>
          </a:p>
          <a:p>
            <a:pPr lvl="0" algn="just"/>
            <a:r>
              <a:rPr lang="en-IN" sz="2000" dirty="0"/>
              <a:t>          ADBC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IN" sz="2000" dirty="0"/>
              <a:t> Use Screen 0100 + 0200 + Adobe Form</a:t>
            </a:r>
          </a:p>
          <a:p>
            <a:endParaRPr lang="en-US" sz="2400" b="1" i="1" dirty="0">
              <a:latin typeface="Aptos Display" panose="020B00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6626436-A4CE-35DB-4931-E784F86CA9E5}"/>
              </a:ext>
            </a:extLst>
          </p:cNvPr>
          <p:cNvSpPr txBox="1"/>
          <p:nvPr/>
        </p:nvSpPr>
        <p:spPr>
          <a:xfrm>
            <a:off x="661391" y="358522"/>
            <a:ext cx="6296404" cy="92333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4800" b="1" u="sng" dirty="0">
                <a:latin typeface="Footlight MT Light" panose="0204060206030A020304" pitchFamily="18" charset="0"/>
              </a:rPr>
              <a:t>Business Requirement </a:t>
            </a:r>
            <a:r>
              <a:rPr lang="en-US" sz="5400" u="sng" dirty="0">
                <a:latin typeface="Footlight MT Light" panose="0204060206030A020304" pitchFamily="18" charset="0"/>
              </a:rPr>
              <a:t>:-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5C2EC6-3B2E-0769-8246-7168A4EC1FAF}"/>
              </a:ext>
            </a:extLst>
          </p:cNvPr>
          <p:cNvSpPr txBox="1"/>
          <p:nvPr/>
        </p:nvSpPr>
        <p:spPr>
          <a:xfrm flipH="1">
            <a:off x="0" y="6488668"/>
            <a:ext cx="12191999" cy="369332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dirty="0"/>
              <a:t> </a:t>
            </a:r>
            <a:r>
              <a:rPr lang="en-US" dirty="0">
                <a:solidFill>
                  <a:schemeClr val="bg1"/>
                </a:solidFill>
              </a:rPr>
              <a:t>Service Order – Partner Bank Details: OOALV + Adobe Form + CDS/AMDP/ADBC                                     ~ Jhuma Roy </a:t>
            </a:r>
          </a:p>
        </p:txBody>
      </p:sp>
    </p:spTree>
    <p:extLst>
      <p:ext uri="{BB962C8B-B14F-4D97-AF65-F5344CB8AC3E}">
        <p14:creationId xmlns:p14="http://schemas.microsoft.com/office/powerpoint/2010/main" val="2630172703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7951A-2A6D-4B0A-9AE1-4684254D3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725826-75F8-A37E-3CFE-2554F6E70A0F}"/>
              </a:ext>
            </a:extLst>
          </p:cNvPr>
          <p:cNvSpPr txBox="1"/>
          <p:nvPr/>
        </p:nvSpPr>
        <p:spPr>
          <a:xfrm>
            <a:off x="337457" y="249877"/>
            <a:ext cx="4377413" cy="769441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4400" b="1" u="sng" dirty="0">
                <a:latin typeface="Footlight MT Light" panose="0204060206030A020304" pitchFamily="18" charset="0"/>
              </a:rPr>
              <a:t>Methodology </a:t>
            </a:r>
            <a:r>
              <a:rPr lang="en-US" sz="4000" b="1" u="sng" dirty="0">
                <a:latin typeface="Footlight MT Light" panose="0204060206030A020304" pitchFamily="18" charset="0"/>
              </a:rPr>
              <a:t>:- 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D709C0C-5378-4F82-73B1-FAC65E08C6B1}"/>
              </a:ext>
            </a:extLst>
          </p:cNvPr>
          <p:cNvGrpSpPr/>
          <p:nvPr/>
        </p:nvGrpSpPr>
        <p:grpSpPr>
          <a:xfrm>
            <a:off x="5560769" y="4125474"/>
            <a:ext cx="360" cy="360"/>
            <a:chOff x="5560769" y="4125474"/>
            <a:chExt cx="360" cy="36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66BF931-0018-FEBF-D68A-4FAFE6AEF9F6}"/>
                    </a:ext>
                  </a:extLst>
                </p14:cNvPr>
                <p14:cNvContentPartPr/>
                <p14:nvPr/>
              </p14:nvContentPartPr>
              <p14:xfrm>
                <a:off x="5560769" y="4125474"/>
                <a:ext cx="360" cy="3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66BF931-0018-FEBF-D68A-4FAFE6AEF9F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542769" y="4107474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820DBA6-6565-4641-F26F-18547C8EB72A}"/>
                    </a:ext>
                  </a:extLst>
                </p14:cNvPr>
                <p14:cNvContentPartPr/>
                <p14:nvPr/>
              </p14:nvContentPartPr>
              <p14:xfrm>
                <a:off x="5560769" y="4125474"/>
                <a:ext cx="360" cy="3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820DBA6-6565-4641-F26F-18547C8EB72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542769" y="4107474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6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F1F0DA83-9F8A-E9CA-F634-36ABEF81F17A}"/>
                  </a:ext>
                </a:extLst>
              </p14:cNvPr>
              <p14:cNvContentPartPr/>
              <p14:nvPr/>
            </p14:nvContentPartPr>
            <p14:xfrm>
              <a:off x="-1808071" y="414594"/>
              <a:ext cx="360" cy="3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F1F0DA83-9F8A-E9CA-F634-36ABEF81F17A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-1825711" y="396954"/>
                <a:ext cx="36000" cy="3600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F0DE41D8-BE21-92D1-106B-4A8DB13B8CCE}"/>
              </a:ext>
            </a:extLst>
          </p:cNvPr>
          <p:cNvSpPr txBox="1"/>
          <p:nvPr/>
        </p:nvSpPr>
        <p:spPr>
          <a:xfrm>
            <a:off x="0" y="6481370"/>
            <a:ext cx="12191999" cy="369332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Service Order – Partner Bank Details: OOALV + Adobe Form + CDS/AMDP/ADBC </a:t>
            </a:r>
            <a:r>
              <a:rPr lang="en-IN" dirty="0">
                <a:solidFill>
                  <a:schemeClr val="bg1"/>
                </a:solidFill>
              </a:rPr>
              <a:t>                                    </a:t>
            </a:r>
            <a:r>
              <a:rPr lang="en-US" dirty="0">
                <a:solidFill>
                  <a:schemeClr val="bg1"/>
                </a:solidFill>
              </a:rPr>
              <a:t>~ Jhuma Roy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6231F2-7D6C-A4BB-8543-71C409868061}"/>
              </a:ext>
            </a:extLst>
          </p:cNvPr>
          <p:cNvSpPr txBox="1"/>
          <p:nvPr/>
        </p:nvSpPr>
        <p:spPr>
          <a:xfrm>
            <a:off x="110131" y="2374529"/>
            <a:ext cx="4888683" cy="2811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2000" u="sng" dirty="0"/>
              <a:t>Tables Name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Z30127337AUFK – Order Master Data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Z30127337IHPA – Partner  Details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Z30127337KNA1 – Customer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Z30127337KNBK – Bank Data</a:t>
            </a:r>
          </a:p>
          <a:p>
            <a:endParaRPr lang="en-IN" sz="2000" dirty="0"/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dirty="0"/>
              <a:t>AUFK → IHPA → KNA1 → KNBK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2E5A92-A2DD-7CF7-303A-09276269EF0E}"/>
              </a:ext>
            </a:extLst>
          </p:cNvPr>
          <p:cNvSpPr txBox="1"/>
          <p:nvPr/>
        </p:nvSpPr>
        <p:spPr>
          <a:xfrm>
            <a:off x="259899" y="1230484"/>
            <a:ext cx="4454971" cy="83099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2400" b="1" u="sng" dirty="0"/>
              <a:t>1. Data Model (4 Customize-Tables) </a:t>
            </a:r>
            <a:r>
              <a:rPr lang="en-US" sz="2400" b="1" u="sng" dirty="0">
                <a:latin typeface="Footlight MT Light" panose="0204060206030A020304" pitchFamily="18" charset="0"/>
              </a:rPr>
              <a:t>: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5C2B0D-37A7-2E50-3FFB-ECBFB214DE72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833121" y="41618"/>
            <a:ext cx="3940984" cy="27891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C2F982F-00D2-CA3C-F1B0-275F64540B08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377413" y="3210699"/>
            <a:ext cx="3664039" cy="307306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B64C4B9-B10E-8FAA-6FEC-D39C5ECF0AC2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147638" y="3268611"/>
            <a:ext cx="3940984" cy="307306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58BB089-1650-76FD-BE0B-8735D04D4DA9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892356" y="126130"/>
            <a:ext cx="3200399" cy="2789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842801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47DEC-9993-2DBE-537F-317E29752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F0C8338-3B27-56D7-7E0D-C713040A414C}"/>
              </a:ext>
            </a:extLst>
          </p:cNvPr>
          <p:cNvSpPr txBox="1"/>
          <p:nvPr/>
        </p:nvSpPr>
        <p:spPr>
          <a:xfrm>
            <a:off x="221384" y="170393"/>
            <a:ext cx="5406530" cy="1077218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3200" dirty="0"/>
              <a:t>2.Selection Screen + OOALV :-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EDB6DB-ED7C-2234-E7A3-D138285EBD38}"/>
              </a:ext>
            </a:extLst>
          </p:cNvPr>
          <p:cNvSpPr txBox="1"/>
          <p:nvPr/>
        </p:nvSpPr>
        <p:spPr>
          <a:xfrm>
            <a:off x="585627" y="1695345"/>
            <a:ext cx="8144715" cy="2246769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User enters AUFNR and ERDAT range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 ALV on Screen 0100 shows header + customer info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 KUNNR is clickable hotspot.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Print button available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/>
          </a:p>
          <a:p>
            <a:endParaRPr lang="en-US" sz="2400" dirty="0"/>
          </a:p>
          <a:p>
            <a:endParaRPr lang="en-US" sz="2400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2400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2400" dirty="0"/>
          </a:p>
          <a:p>
            <a:r>
              <a:rPr lang="en-US" sz="2400" dirty="0"/>
              <a:t>   </a:t>
            </a:r>
          </a:p>
          <a:p>
            <a:r>
              <a:rPr lang="en-US" dirty="0"/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5414FA-B0B7-804F-555A-CAAEE80AB364}"/>
              </a:ext>
            </a:extLst>
          </p:cNvPr>
          <p:cNvSpPr txBox="1"/>
          <p:nvPr/>
        </p:nvSpPr>
        <p:spPr>
          <a:xfrm>
            <a:off x="0" y="6522215"/>
            <a:ext cx="12192000" cy="40011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IN" dirty="0"/>
              <a:t> </a:t>
            </a:r>
            <a:r>
              <a:rPr lang="en-US" dirty="0">
                <a:solidFill>
                  <a:schemeClr val="bg1"/>
                </a:solidFill>
              </a:rPr>
              <a:t>Service Order – Partner Bank Details: OOALV + Adobe Form + CDS/AMDP/ADBC </a:t>
            </a:r>
            <a:r>
              <a:rPr lang="en-IN" dirty="0">
                <a:solidFill>
                  <a:schemeClr val="bg1"/>
                </a:solidFill>
              </a:rPr>
              <a:t>                                   </a:t>
            </a:r>
            <a:r>
              <a:rPr lang="en-US" sz="2000" b="1" i="1" dirty="0">
                <a:solidFill>
                  <a:schemeClr val="bg1"/>
                </a:solidFill>
                <a:latin typeface="Aptos Narrow" panose="020B0004020202020204" pitchFamily="34" charset="0"/>
              </a:rPr>
              <a:t>~</a:t>
            </a:r>
            <a:r>
              <a:rPr lang="en-US" sz="2000" dirty="0">
                <a:solidFill>
                  <a:schemeClr val="bg1"/>
                </a:solidFill>
              </a:rPr>
              <a:t>Jhuma Roy  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1E5910F-9297-B90E-F60E-0F0BEA6666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399" y="133244"/>
            <a:ext cx="5725886" cy="3124201"/>
          </a:xfrm>
          <a:prstGeom prst="rect">
            <a:avLst/>
          </a:prstGeom>
        </p:spPr>
      </p:pic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873C25A-A41A-672D-CF0E-5215CCF462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399" y="2818729"/>
            <a:ext cx="5738974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626550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F1435-BE33-35E6-9E02-316E5E49A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5EDACF4-A49B-7C67-2AB8-6C1B3D4DAA52}"/>
              </a:ext>
            </a:extLst>
          </p:cNvPr>
          <p:cNvSpPr txBox="1"/>
          <p:nvPr/>
        </p:nvSpPr>
        <p:spPr>
          <a:xfrm>
            <a:off x="326573" y="1453634"/>
            <a:ext cx="506404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Click on AUFNR → second OOALV on Screen 0200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 Detail ALV shows bank details </a:t>
            </a:r>
          </a:p>
          <a:p>
            <a:endParaRPr lang="en-US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461E6B-E543-A522-D147-B992E9F6AB81}"/>
              </a:ext>
            </a:extLst>
          </p:cNvPr>
          <p:cNvSpPr txBox="1"/>
          <p:nvPr/>
        </p:nvSpPr>
        <p:spPr>
          <a:xfrm>
            <a:off x="326573" y="369332"/>
            <a:ext cx="6629400" cy="646331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3200" dirty="0"/>
              <a:t>3</a:t>
            </a:r>
            <a:r>
              <a:rPr lang="en-US" sz="3600" dirty="0"/>
              <a:t>.</a:t>
            </a:r>
            <a:r>
              <a:rPr lang="en-US" sz="2800" dirty="0"/>
              <a:t>Hotspot Navigation + Detail OOALV </a:t>
            </a:r>
            <a:endParaRPr lang="en-US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2CC859-C2FB-FC36-BE28-9395C289062C}"/>
              </a:ext>
            </a:extLst>
          </p:cNvPr>
          <p:cNvSpPr txBox="1"/>
          <p:nvPr/>
        </p:nvSpPr>
        <p:spPr>
          <a:xfrm>
            <a:off x="0" y="6488668"/>
            <a:ext cx="12192000" cy="369332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Service Order – Partner Bank Details: OOALV + Adobe Form + CDS/AMDP/ADBC                                      ~ Jhuma Roy </a:t>
            </a:r>
          </a:p>
        </p:txBody>
      </p:sp>
      <p:sp>
        <p:nvSpPr>
          <p:cNvPr id="2" name="AutoShape 2" descr="Adapt to Change - Pockets of Wisdom">
            <a:extLst>
              <a:ext uri="{FF2B5EF4-FFF2-40B4-BE49-F238E27FC236}">
                <a16:creationId xmlns:a16="http://schemas.microsoft.com/office/drawing/2014/main" id="{3AF7136F-D119-B3BB-B5DA-EDB41D4B336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5A8CC43-294F-F71F-14FF-3F6C89F302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7057" y="1817914"/>
            <a:ext cx="7271657" cy="4376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051762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F2ADD-E550-4D4E-D16F-530A17023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3B0093E-708E-72EE-EE1E-D9BAE76EB830}"/>
              </a:ext>
            </a:extLst>
          </p:cNvPr>
          <p:cNvSpPr txBox="1"/>
          <p:nvPr/>
        </p:nvSpPr>
        <p:spPr>
          <a:xfrm>
            <a:off x="265307" y="1306286"/>
            <a:ext cx="6723321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000" dirty="0"/>
              <a:t>Adobe Form shows header +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000" dirty="0"/>
              <a:t>customer + bank details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000" dirty="0"/>
              <a:t>Called using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000" dirty="0"/>
              <a:t>FP_JOB_OPEN / FP_JOB_CLOSE </a:t>
            </a:r>
            <a:endParaRPr lang="en-US" sz="2000" dirty="0"/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sz="2000" dirty="0"/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83ACEA-6DF3-0D19-D6C2-445D89C5E5CD}"/>
              </a:ext>
            </a:extLst>
          </p:cNvPr>
          <p:cNvSpPr txBox="1"/>
          <p:nvPr/>
        </p:nvSpPr>
        <p:spPr>
          <a:xfrm>
            <a:off x="546244" y="456833"/>
            <a:ext cx="3568556" cy="646331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3600" dirty="0"/>
              <a:t>4.Adobe Form 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5E5384-83CA-E622-863E-21F6B0B9BE98}"/>
              </a:ext>
            </a:extLst>
          </p:cNvPr>
          <p:cNvSpPr txBox="1"/>
          <p:nvPr/>
        </p:nvSpPr>
        <p:spPr>
          <a:xfrm>
            <a:off x="0" y="6488668"/>
            <a:ext cx="12192000" cy="40011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Service Order – Partner Bank Details: OOALV + Adobe Form + CDS/AMDP/ADBC                  ~Jhuma Roy 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6A7110A-4F8E-6CA3-0A05-96DB98DBDE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2956" y="792429"/>
            <a:ext cx="7162800" cy="4844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318879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16531-00F8-6A70-44AB-CF02C5711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C60814F-786F-2744-12A0-1F36BFF62C7E}"/>
              </a:ext>
            </a:extLst>
          </p:cNvPr>
          <p:cNvSpPr txBox="1"/>
          <p:nvPr/>
        </p:nvSpPr>
        <p:spPr>
          <a:xfrm>
            <a:off x="256479" y="186657"/>
            <a:ext cx="7281746" cy="646331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3600" dirty="0"/>
              <a:t>5.CDS/AMDP/ADBC Approaches: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8AEEED-97CF-CFC3-8AC2-A5F8B9230516}"/>
              </a:ext>
            </a:extLst>
          </p:cNvPr>
          <p:cNvSpPr txBox="1"/>
          <p:nvPr/>
        </p:nvSpPr>
        <p:spPr>
          <a:xfrm>
            <a:off x="0" y="6488668"/>
            <a:ext cx="12192000" cy="40011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Service Order – Partner Bank Details: OOALV + Adobe Form + CDS/AMDP/ADBC                 </a:t>
            </a:r>
            <a:r>
              <a:rPr lang="en-US" sz="2000" b="1" i="1" dirty="0">
                <a:solidFill>
                  <a:schemeClr val="bg1"/>
                </a:solidFill>
                <a:latin typeface="Aptos Narrow" panose="020B0004020202020204" pitchFamily="34" charset="0"/>
              </a:rPr>
              <a:t>~</a:t>
            </a:r>
            <a:r>
              <a:rPr lang="en-US" sz="2000" dirty="0"/>
              <a:t> Jhuma Roy                                                                                         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CBB649-8F34-26F2-01BE-A3E04A711348}"/>
              </a:ext>
            </a:extLst>
          </p:cNvPr>
          <p:cNvSpPr txBox="1"/>
          <p:nvPr/>
        </p:nvSpPr>
        <p:spPr>
          <a:xfrm>
            <a:off x="120500" y="1156585"/>
            <a:ext cx="7553704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CDS View Approach</a:t>
            </a:r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dirty="0"/>
              <a:t>Parameterized CDS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dirty="0"/>
              <a:t>Simple, good for HANA pushdown</a:t>
            </a:r>
          </a:p>
          <a:p>
            <a:pPr lvl="0"/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AMDP Approach</a:t>
            </a:r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dirty="0" err="1"/>
              <a:t>SQLScript</a:t>
            </a:r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dirty="0"/>
              <a:t>Handles ranges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dirty="0"/>
              <a:t>Good for complex joins</a:t>
            </a:r>
          </a:p>
          <a:p>
            <a:pPr lvl="0"/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ADBC Approach</a:t>
            </a:r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dirty="0"/>
              <a:t>Dynamic SQL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dirty="0"/>
              <a:t>Used when CDS/AMDP not allowed</a:t>
            </a:r>
          </a:p>
          <a:p>
            <a:endParaRPr lang="en-US" sz="2000" b="1" i="1" dirty="0">
              <a:latin typeface="Aptos" panose="020B0004020202020204" pitchFamily="34" charset="0"/>
            </a:endParaRPr>
          </a:p>
          <a:p>
            <a:endParaRPr lang="en-US" sz="2000" b="1" i="1" dirty="0">
              <a:latin typeface="Aptos" panose="020B00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D6569BE-3B07-2BD3-00EC-7ACA4B4A3E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7784" y="3186780"/>
            <a:ext cx="3683889" cy="299471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F9604FB-B53B-52E3-88A9-7D9611232C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1673" y="3186780"/>
            <a:ext cx="4059826" cy="299471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A8B0E4D-61DD-0E7B-97CE-E6B01A2EF9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8225" y="163550"/>
            <a:ext cx="4502381" cy="292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907622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7E489-5672-B916-D660-A456E1C0E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4C7453C-80AC-94CA-A43D-00D1FB79456E}"/>
              </a:ext>
            </a:extLst>
          </p:cNvPr>
          <p:cNvSpPr txBox="1"/>
          <p:nvPr/>
        </p:nvSpPr>
        <p:spPr>
          <a:xfrm>
            <a:off x="831365" y="1858277"/>
            <a:ext cx="773644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n-US" sz="2000" dirty="0"/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sz="2000" dirty="0"/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03BFAE-5347-22B5-4B4E-F7CEB9AFFC90}"/>
              </a:ext>
            </a:extLst>
          </p:cNvPr>
          <p:cNvSpPr txBox="1"/>
          <p:nvPr/>
        </p:nvSpPr>
        <p:spPr>
          <a:xfrm>
            <a:off x="426501" y="478604"/>
            <a:ext cx="5506213" cy="646331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3600" dirty="0"/>
              <a:t>Final Output Summary :-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B2D4A2-488B-CF27-AF4F-4A0456164987}"/>
              </a:ext>
            </a:extLst>
          </p:cNvPr>
          <p:cNvSpPr txBox="1"/>
          <p:nvPr/>
        </p:nvSpPr>
        <p:spPr>
          <a:xfrm>
            <a:off x="0" y="6488668"/>
            <a:ext cx="12192000" cy="40011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Service Order – Partner Bank Details: OOALV + Adobe Form + CDS/AMDP/ADBC                  ~Jhuma Roy </a:t>
            </a: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3810C90-774C-105D-E380-5B4A861035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501" y="1306520"/>
            <a:ext cx="5301344" cy="3463921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7CC402C-23A0-067E-C2B4-2A50CFFFAA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9288" y="3456702"/>
            <a:ext cx="5103198" cy="3034852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FC3E377-84CC-0323-9C79-62654A0335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9288" y="219977"/>
            <a:ext cx="4931229" cy="3034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373629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9A4A9-F8B5-30FA-81E2-E5ABF67C9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4E1B92E-4EED-1D76-3B2E-08C7D2D80E4C}"/>
              </a:ext>
            </a:extLst>
          </p:cNvPr>
          <p:cNvSpPr txBox="1"/>
          <p:nvPr/>
        </p:nvSpPr>
        <p:spPr>
          <a:xfrm>
            <a:off x="437386" y="1441132"/>
            <a:ext cx="10304721" cy="5416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IN" b="1" dirty="0"/>
              <a:t>Header OOALV Showing No Data</a:t>
            </a:r>
          </a:p>
          <a:p>
            <a:r>
              <a:rPr lang="en-IN" dirty="0"/>
              <a:t>      </a:t>
            </a:r>
            <a:r>
              <a:rPr lang="en-IN" b="1" dirty="0"/>
              <a:t>Challenge:</a:t>
            </a:r>
            <a:r>
              <a:rPr lang="en-IN" dirty="0"/>
              <a:t> There is no common field between Partner table and Customer Table   .</a:t>
            </a:r>
            <a:br>
              <a:rPr lang="en-IN" dirty="0"/>
            </a:br>
            <a:r>
              <a:rPr lang="en-IN" b="1" dirty="0"/>
              <a:t>      Solution:</a:t>
            </a:r>
            <a:r>
              <a:rPr lang="en-IN" dirty="0"/>
              <a:t> Adjust PARNR field of Partner Data and KUNNR field of Customer Data.</a:t>
            </a:r>
          </a:p>
          <a:p>
            <a:endParaRPr lang="en-IN" dirty="0"/>
          </a:p>
          <a:p>
            <a:r>
              <a:rPr lang="en-IN" dirty="0"/>
              <a:t>2.   </a:t>
            </a:r>
            <a:r>
              <a:rPr lang="en-IN" b="1" dirty="0"/>
              <a:t>Hotspot Not Triggering</a:t>
            </a:r>
            <a:endParaRPr lang="en-IN" dirty="0"/>
          </a:p>
          <a:p>
            <a:r>
              <a:rPr lang="en-IN" b="1" dirty="0"/>
              <a:t>     Challenge</a:t>
            </a:r>
            <a:r>
              <a:rPr lang="en-IN" b="1"/>
              <a:t>:</a:t>
            </a:r>
            <a:r>
              <a:rPr lang="en-IN"/>
              <a:t> KUNNR </a:t>
            </a:r>
            <a:r>
              <a:rPr lang="en-IN" dirty="0"/>
              <a:t>hotspot click was not firing.</a:t>
            </a:r>
            <a:br>
              <a:rPr lang="en-IN" dirty="0"/>
            </a:br>
            <a:r>
              <a:rPr lang="en-IN" dirty="0"/>
              <a:t>     </a:t>
            </a:r>
            <a:r>
              <a:rPr lang="en-IN" b="1" dirty="0"/>
              <a:t>Solution:</a:t>
            </a:r>
            <a:r>
              <a:rPr lang="en-IN" dirty="0"/>
              <a:t> Set </a:t>
            </a:r>
            <a:r>
              <a:rPr lang="en-IN" dirty="0" err="1"/>
              <a:t>fieldcatalog</a:t>
            </a:r>
            <a:r>
              <a:rPr lang="en-IN" dirty="0"/>
              <a:t>-fieldname HOTSPOT = ‘X’ and implemented event handler.</a:t>
            </a:r>
          </a:p>
          <a:p>
            <a:r>
              <a:rPr lang="en-IN" dirty="0"/>
              <a:t> </a:t>
            </a:r>
          </a:p>
          <a:p>
            <a:r>
              <a:rPr lang="en-IN" dirty="0"/>
              <a:t>3.</a:t>
            </a:r>
            <a:r>
              <a:rPr lang="en-IN" b="1" dirty="0"/>
              <a:t>  Adobe Form Not Opening</a:t>
            </a:r>
            <a:endParaRPr lang="en-IN" dirty="0"/>
          </a:p>
          <a:p>
            <a:r>
              <a:rPr lang="en-IN" b="1" dirty="0"/>
              <a:t>     Challenge:</a:t>
            </a:r>
            <a:r>
              <a:rPr lang="en-IN" dirty="0"/>
              <a:t> PDF was not generating (“No job started”).</a:t>
            </a:r>
            <a:br>
              <a:rPr lang="en-IN" dirty="0"/>
            </a:br>
            <a:r>
              <a:rPr lang="en-IN" dirty="0"/>
              <a:t>     </a:t>
            </a:r>
            <a:r>
              <a:rPr lang="en-IN" b="1" dirty="0"/>
              <a:t>Solution:</a:t>
            </a:r>
            <a:r>
              <a:rPr lang="en-IN" dirty="0"/>
              <a:t> Added FP_JOB_OPEN and FP_JOB_CLOSE correctly.</a:t>
            </a:r>
          </a:p>
          <a:p>
            <a:r>
              <a:rPr lang="en-IN" dirty="0"/>
              <a:t> </a:t>
            </a:r>
          </a:p>
          <a:p>
            <a:r>
              <a:rPr lang="en-IN" dirty="0"/>
              <a:t>4.  </a:t>
            </a:r>
            <a:r>
              <a:rPr lang="en-IN" b="1" dirty="0"/>
              <a:t>ADBC SQL Errors </a:t>
            </a:r>
            <a:endParaRPr lang="en-IN" dirty="0"/>
          </a:p>
          <a:p>
            <a:r>
              <a:rPr lang="en-IN" b="1" dirty="0"/>
              <a:t>    Challenge:</a:t>
            </a:r>
            <a:r>
              <a:rPr lang="en-IN" dirty="0"/>
              <a:t> String concatenation missing spaces causing SQL failures.  </a:t>
            </a:r>
            <a:br>
              <a:rPr lang="en-IN" dirty="0"/>
            </a:br>
            <a:r>
              <a:rPr lang="en-IN" dirty="0"/>
              <a:t>    </a:t>
            </a:r>
            <a:r>
              <a:rPr lang="en-IN" b="1" dirty="0"/>
              <a:t>Solution:</a:t>
            </a:r>
            <a:r>
              <a:rPr lang="en-IN" dirty="0"/>
              <a:t> Cleaned string templates and added mandatory spaces between clauses.</a:t>
            </a:r>
          </a:p>
          <a:p>
            <a:endParaRPr lang="en-IN" dirty="0"/>
          </a:p>
          <a:p>
            <a:pPr algn="just"/>
            <a:r>
              <a:rPr lang="en-IN" sz="2000" dirty="0"/>
              <a:t>     </a:t>
            </a:r>
            <a:endParaRPr lang="en-US" sz="2000" dirty="0"/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sz="2000" dirty="0"/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251276-FD3E-91C4-5F69-02EF9477B4E2}"/>
              </a:ext>
            </a:extLst>
          </p:cNvPr>
          <p:cNvSpPr txBox="1"/>
          <p:nvPr/>
        </p:nvSpPr>
        <p:spPr>
          <a:xfrm>
            <a:off x="437386" y="347975"/>
            <a:ext cx="7808359" cy="646331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3600" dirty="0"/>
              <a:t>Challenges + Solutions :-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2E8C72-1528-B9E1-13CE-C55FD7011EC7}"/>
              </a:ext>
            </a:extLst>
          </p:cNvPr>
          <p:cNvSpPr txBox="1"/>
          <p:nvPr/>
        </p:nvSpPr>
        <p:spPr>
          <a:xfrm>
            <a:off x="0" y="6488668"/>
            <a:ext cx="12192000" cy="40011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Service Order – Partner Bank Details: OOALV + Adobe Form + CDS/AMDP/ADBC                  ~Jhuma Roy </a:t>
            </a:r>
          </a:p>
        </p:txBody>
      </p:sp>
    </p:spTree>
    <p:extLst>
      <p:ext uri="{BB962C8B-B14F-4D97-AF65-F5344CB8AC3E}">
        <p14:creationId xmlns:p14="http://schemas.microsoft.com/office/powerpoint/2010/main" val="3408935693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74345-191D-F9AA-4944-90EC26E79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A451DB6-A63D-E392-A6C6-72643624DFCA}"/>
              </a:ext>
            </a:extLst>
          </p:cNvPr>
          <p:cNvSpPr txBox="1"/>
          <p:nvPr/>
        </p:nvSpPr>
        <p:spPr>
          <a:xfrm>
            <a:off x="831365" y="1858277"/>
            <a:ext cx="8671864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dirty="0"/>
              <a:t>How ALV event handling works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dirty="0"/>
              <a:t> How Adobe Form integrates with ABAP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dirty="0"/>
              <a:t> Difference between CDS, AMDP, ADBC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dirty="0"/>
              <a:t> Handling range parameters in advanced data retrieval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dirty="0"/>
              <a:t> Complete end‑to‑end SAP development flow</a:t>
            </a:r>
          </a:p>
          <a:p>
            <a:pPr algn="just"/>
            <a:endParaRPr lang="en-US" sz="2000" dirty="0"/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sz="2000" dirty="0"/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CB647F-F0CE-162D-573C-0508CCFB64DF}"/>
              </a:ext>
            </a:extLst>
          </p:cNvPr>
          <p:cNvSpPr txBox="1"/>
          <p:nvPr/>
        </p:nvSpPr>
        <p:spPr>
          <a:xfrm>
            <a:off x="1613043" y="554804"/>
            <a:ext cx="7808359" cy="646331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3600" b="1" dirty="0"/>
              <a:t>Key Learning and Conclusion :-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206FB9-A03A-9D28-4BD4-CAB5FF49C073}"/>
              </a:ext>
            </a:extLst>
          </p:cNvPr>
          <p:cNvSpPr txBox="1"/>
          <p:nvPr/>
        </p:nvSpPr>
        <p:spPr>
          <a:xfrm>
            <a:off x="0" y="6488668"/>
            <a:ext cx="12192000" cy="40011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Service Order – Partner Bank Details: OOALV + Adobe Form + CDS/AMDP/ADBC                  ~Jhuma Roy </a:t>
            </a:r>
          </a:p>
        </p:txBody>
      </p:sp>
    </p:spTree>
    <p:extLst>
      <p:ext uri="{BB962C8B-B14F-4D97-AF65-F5344CB8AC3E}">
        <p14:creationId xmlns:p14="http://schemas.microsoft.com/office/powerpoint/2010/main" val="3693264550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38ED2BD-1A89-46F3-60B9-5F53675E1339}"/>
              </a:ext>
            </a:extLst>
          </p:cNvPr>
          <p:cNvSpPr txBox="1"/>
          <p:nvPr/>
        </p:nvSpPr>
        <p:spPr>
          <a:xfrm>
            <a:off x="1972114" y="2413337"/>
            <a:ext cx="824777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i="1" u="sng" dirty="0">
                <a:latin typeface="Bahnschrift Condensed" panose="020B0502040204020203" pitchFamily="34" charset="0"/>
              </a:rPr>
              <a:t>THANK YOU FOR YOUR ATTENTION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32EDCE-4FD7-7491-50A9-D3B4F85CB212}"/>
              </a:ext>
            </a:extLst>
          </p:cNvPr>
          <p:cNvSpPr txBox="1"/>
          <p:nvPr/>
        </p:nvSpPr>
        <p:spPr>
          <a:xfrm>
            <a:off x="1467417" y="3429000"/>
            <a:ext cx="92571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Bell MT" panose="02020503060305020303" pitchFamily="18" charset="0"/>
              </a:rPr>
              <a:t>I WELCOME YOUR QUESTIONS &amp; INSIGHTS</a:t>
            </a:r>
          </a:p>
        </p:txBody>
      </p:sp>
    </p:spTree>
    <p:extLst>
      <p:ext uri="{BB962C8B-B14F-4D97-AF65-F5344CB8AC3E}">
        <p14:creationId xmlns:p14="http://schemas.microsoft.com/office/powerpoint/2010/main" val="3154091622"/>
      </p:ext>
    </p:extLst>
  </p:cSld>
  <p:clrMapOvr>
    <a:masterClrMapping/>
  </p:clrMapOvr>
  <p:transition spd="slow">
    <p:wip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760c494-6550-44b4-8258-77c175d778b7}" enabled="1" method="Privileged" siteId="{76a2ae5a-9f00-4f6b-95ed-5d33d77c4d6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2280</TotalTime>
  <Words>766</Words>
  <Application>Microsoft Office PowerPoint</Application>
  <PresentationFormat>Widescreen</PresentationFormat>
  <Paragraphs>109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6" baseType="lpstr">
      <vt:lpstr>Aptos</vt:lpstr>
      <vt:lpstr>Aptos Display</vt:lpstr>
      <vt:lpstr>Aptos Narrow</vt:lpstr>
      <vt:lpstr>Arial</vt:lpstr>
      <vt:lpstr>Bahnschrift Condensed</vt:lpstr>
      <vt:lpstr>Bell MT</vt:lpstr>
      <vt:lpstr>Book Antiqua</vt:lpstr>
      <vt:lpstr>Bookman Old Style</vt:lpstr>
      <vt:lpstr>Courier New</vt:lpstr>
      <vt:lpstr>Footlight MT Light</vt:lpstr>
      <vt:lpstr>Rockwell</vt:lpstr>
      <vt:lpstr>Rockwell Condensed</vt:lpstr>
      <vt:lpstr>Wingdings</vt:lpstr>
      <vt:lpstr>Wood Type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Aditi Singh</dc:creator>
  <cp:lastModifiedBy>ROY, JHUMA</cp:lastModifiedBy>
  <cp:revision>14</cp:revision>
  <dcterms:created xsi:type="dcterms:W3CDTF">2025-11-05T06:48:03Z</dcterms:created>
  <dcterms:modified xsi:type="dcterms:W3CDTF">2026-01-19T04:56:22Z</dcterms:modified>
</cp:coreProperties>
</file>